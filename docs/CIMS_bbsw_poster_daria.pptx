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1206400" cy="38404800"/>
  <p:notesSz cx="7004050" cy="9290050"/>
  <p:defaultTextStyle>
    <a:defPPr>
      <a:defRPr lang="en-US"/>
    </a:defPPr>
    <a:lvl1pPr marL="0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1pPr>
    <a:lvl2pPr marL="1919804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2pPr>
    <a:lvl3pPr marL="3839606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3pPr>
    <a:lvl4pPr marL="5759410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4pPr>
    <a:lvl5pPr marL="7679213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5pPr>
    <a:lvl6pPr marL="9599016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6pPr>
    <a:lvl7pPr marL="11518818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7pPr>
    <a:lvl8pPr marL="13438623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8pPr>
    <a:lvl9pPr marL="15358427" algn="l" defTabSz="3839606" rtl="0" eaLnBrk="1" latinLnBrk="0" hangingPunct="1">
      <a:defRPr sz="7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96">
          <p15:clr>
            <a:srgbClr val="A4A3A4"/>
          </p15:clr>
        </p15:guide>
        <p15:guide id="2" pos="161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 varScale="1">
        <p:scale>
          <a:sx n="20" d="100"/>
          <a:sy n="20" d="100"/>
        </p:scale>
        <p:origin x="2130" y="84"/>
      </p:cViewPr>
      <p:guideLst>
        <p:guide orient="horz" pos="12096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50352960" y="0"/>
            <a:ext cx="853440" cy="384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91" tIns="39996" rIns="79991" bIns="39996"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4" y="0"/>
            <a:ext cx="853440" cy="384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91" tIns="39996" rIns="79991" bIns="39996"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51206400" cy="4800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91" tIns="39996" rIns="79991" bIns="39996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33604200"/>
            <a:ext cx="51206400" cy="4800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91" tIns="39996" rIns="79991" bIns="39996" rtlCol="0" anchor="ctr"/>
          <a:lstStyle/>
          <a:p>
            <a:pPr algn="ctr"/>
            <a:endParaRPr lang="en-US" dirty="0"/>
          </a:p>
        </p:txBody>
      </p:sp>
      <p:sp>
        <p:nvSpPr>
          <p:cNvPr id="11" name="Instructions"/>
          <p:cNvSpPr/>
          <p:nvPr userDrawn="1"/>
        </p:nvSpPr>
        <p:spPr>
          <a:xfrm>
            <a:off x="-12268200" y="0"/>
            <a:ext cx="11201400" cy="38404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9980" tIns="199980" rIns="199980" bIns="19998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8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4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42” high by 56” wide. It can be used to print any poster with a 3:4 aspect ratio.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8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57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57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8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4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57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57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57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100"/>
              </a:spcAft>
            </a:pPr>
            <a:r>
              <a:rPr lang="en-US" sz="57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100"/>
              </a:spcAft>
            </a:pPr>
            <a:br>
              <a:rPr lang="en-US" sz="4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2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52273200" y="0"/>
            <a:ext cx="11201400" cy="38404800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8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4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4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57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57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57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8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57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57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100"/>
                </a:spcAft>
              </a:pP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57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57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2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0" y="381000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0" y="1537972"/>
            <a:ext cx="46085760" cy="6400800"/>
          </a:xfrm>
          <a:prstGeom prst="rect">
            <a:avLst/>
          </a:prstGeom>
        </p:spPr>
        <p:txBody>
          <a:bodyPr vert="horz" lIns="383961" tIns="191980" rIns="383961" bIns="1919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0" y="8961124"/>
            <a:ext cx="46085760" cy="25345394"/>
          </a:xfrm>
          <a:prstGeom prst="rect">
            <a:avLst/>
          </a:prstGeom>
        </p:spPr>
        <p:txBody>
          <a:bodyPr vert="horz" lIns="383961" tIns="191980" rIns="383961" bIns="1919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0" y="35595564"/>
            <a:ext cx="11948160" cy="2044700"/>
          </a:xfrm>
          <a:prstGeom prst="rect">
            <a:avLst/>
          </a:prstGeom>
        </p:spPr>
        <p:txBody>
          <a:bodyPr vert="horz" lIns="383961" tIns="191980" rIns="383961" bIns="191980" rtlCol="0" anchor="ctr"/>
          <a:lstStyle>
            <a:lvl1pPr algn="l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95520" y="35595564"/>
            <a:ext cx="16215360" cy="2044700"/>
          </a:xfrm>
          <a:prstGeom prst="rect">
            <a:avLst/>
          </a:prstGeom>
        </p:spPr>
        <p:txBody>
          <a:bodyPr vert="horz" lIns="383961" tIns="191980" rIns="383961" bIns="191980" rtlCol="0" anchor="ctr"/>
          <a:lstStyle>
            <a:lvl1pPr algn="ctr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97920" y="35595564"/>
            <a:ext cx="11948160" cy="2044700"/>
          </a:xfrm>
          <a:prstGeom prst="rect">
            <a:avLst/>
          </a:prstGeom>
        </p:spPr>
        <p:txBody>
          <a:bodyPr vert="horz" lIns="383961" tIns="191980" rIns="383961" bIns="191980" rtlCol="0" anchor="ctr"/>
          <a:lstStyle>
            <a:lvl1pPr algn="r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3839606" rtl="0" eaLnBrk="1" latinLnBrk="0" hangingPunct="1">
        <a:spcBef>
          <a:spcPct val="0"/>
        </a:spcBef>
        <a:buNone/>
        <a:defRPr sz="7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9959" indent="-399959" algn="l" defTabSz="3839606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99918" indent="-399959" algn="l" defTabSz="3839606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199877" indent="-399959" algn="l" defTabSz="3839606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36" indent="-399959" algn="l" defTabSz="3839606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1999796" indent="-399959" algn="l" defTabSz="3839606" rtl="0" eaLnBrk="1" latinLnBrk="0" hangingPunct="1">
        <a:spcBef>
          <a:spcPct val="20000"/>
        </a:spcBef>
        <a:buFont typeface="Arial" pitchFamily="34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10558918" indent="-959902" algn="l" defTabSz="3839606" rtl="0" eaLnBrk="1" latinLnBrk="0" hangingPunct="1">
        <a:spcBef>
          <a:spcPct val="20000"/>
        </a:spcBef>
        <a:buFont typeface="Arial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78721" indent="-959902" algn="l" defTabSz="3839606" rtl="0" eaLnBrk="1" latinLnBrk="0" hangingPunct="1">
        <a:spcBef>
          <a:spcPct val="20000"/>
        </a:spcBef>
        <a:buFont typeface="Arial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7pPr>
      <a:lvl8pPr marL="14398524" indent="-959902" algn="l" defTabSz="3839606" rtl="0" eaLnBrk="1" latinLnBrk="0" hangingPunct="1">
        <a:spcBef>
          <a:spcPct val="20000"/>
        </a:spcBef>
        <a:buFont typeface="Arial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8pPr>
      <a:lvl9pPr marL="16318326" indent="-959902" algn="l" defTabSz="3839606" rtl="0" eaLnBrk="1" latinLnBrk="0" hangingPunct="1">
        <a:spcBef>
          <a:spcPct val="20000"/>
        </a:spcBef>
        <a:buFont typeface="Arial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1pPr>
      <a:lvl2pPr marL="1919804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2pPr>
      <a:lvl3pPr marL="3839606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5759410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4pPr>
      <a:lvl5pPr marL="7679213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5pPr>
      <a:lvl6pPr marL="9599016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6pPr>
      <a:lvl7pPr marL="11518818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7pPr>
      <a:lvl8pPr marL="13438623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8pPr>
      <a:lvl9pPr marL="15358427" algn="l" defTabSz="3839606" rtl="0" eaLnBrk="1" latinLnBrk="0" hangingPunct="1">
        <a:defRPr sz="7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mailto:lliu@cims-glob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6400800" y="-315299"/>
            <a:ext cx="38404800" cy="507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9984" tIns="399959" rIns="159984" bIns="399959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R="0" lvl="0" algn="ctr" eaLnBrk="1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8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Data Analysis and Review Intelligent Assistant (DARIA) </a:t>
            </a:r>
          </a:p>
          <a:p>
            <a:pPr marR="0" lvl="0" algn="ctr" eaLnBrk="1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8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– A </a:t>
            </a:r>
            <a:r>
              <a:rPr lang="en-US" sz="80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GenAI</a:t>
            </a:r>
            <a:r>
              <a:rPr lang="en-US" sz="8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 Tool for Medical Review</a:t>
            </a:r>
          </a:p>
          <a:p>
            <a:pPr algn="ctr" eaLnBrk="1" hangingPunct="1"/>
            <a:endParaRPr lang="en-US" sz="8000" b="1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6400800" y="2800350"/>
            <a:ext cx="384048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9984" tIns="159984" rIns="159984" bIns="159984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Lizhong Liu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, PhD; Peng Zhang</a:t>
            </a:r>
            <a:r>
              <a:rPr lang="en-US" altLang="zh-CN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, 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PhD</a:t>
            </a:r>
            <a:r>
              <a:rPr lang="en-US" sz="480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; Tai Xie, 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PhD</a:t>
            </a:r>
            <a:endParaRPr lang="en-US" sz="48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CIMS Global - Somerset, NJ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1360" y="33909000"/>
            <a:ext cx="2371765" cy="911770"/>
          </a:xfrm>
          <a:prstGeom prst="rect">
            <a:avLst/>
          </a:prstGeom>
          <a:noFill/>
        </p:spPr>
        <p:txBody>
          <a:bodyPr wrap="none" lIns="79991" tIns="39996" rIns="79991" bIns="39996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706880" y="6400800"/>
            <a:ext cx="15361920" cy="601958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59984" tIns="159984" rIns="159984" bIns="159984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The integration of advanced AI technologies is revolutionizing the healthcare industry, particularly in how medical information is processed, understood, and queried. Here we showcase an innovative system that leverages Retrieval-Augmented Generation (RAG) and Large Language Models (LLMs) to revolutionize clinical reporting processes. By automating the processing and enhancement of medical documents through natural language interaction and real-time response, this system significantly improves the efficiency of decision support systems within healthcare settings. Join us to explore how this cutting-edge technology is reshaping the future of clinical reporting.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6880" y="5600700"/>
            <a:ext cx="15361920" cy="800100"/>
          </a:xfrm>
          <a:prstGeom prst="rect">
            <a:avLst/>
          </a:prstGeom>
          <a:solidFill>
            <a:schemeClr val="accent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991" tIns="39996" rIns="79991" bIns="39996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Abstract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E4DA98-4804-AD87-C30B-849BD78BDBD4}"/>
              </a:ext>
            </a:extLst>
          </p:cNvPr>
          <p:cNvGrpSpPr/>
          <p:nvPr/>
        </p:nvGrpSpPr>
        <p:grpSpPr>
          <a:xfrm>
            <a:off x="34188401" y="5364047"/>
            <a:ext cx="15361920" cy="11095153"/>
            <a:chOff x="17922240" y="5600700"/>
            <a:chExt cx="15361920" cy="11095153"/>
          </a:xfrm>
        </p:grpSpPr>
        <p:sp>
          <p:nvSpPr>
            <p:cNvPr id="13" name="Text Box 192"/>
            <p:cNvSpPr txBox="1">
              <a:spLocks noChangeArrowheads="1"/>
            </p:cNvSpPr>
            <p:nvPr/>
          </p:nvSpPr>
          <p:spPr bwMode="auto">
            <a:xfrm>
              <a:off x="17922240" y="6400800"/>
              <a:ext cx="15361920" cy="102950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59984" tIns="159984" rIns="159984" bIns="159984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System Architecture: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 Interface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</a:t>
              </a:r>
            </a:p>
            <a:p>
              <a:pPr marL="1314450" lvl="1" indent="-571500">
                <a:buFont typeface="Wingdings" panose="05000000000000000000" pitchFamily="2" charset="2"/>
                <a:buChar char="q"/>
              </a:pP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DMC members interact via a chat panel using natural language queries.</a:t>
              </a:r>
            </a:p>
            <a:p>
              <a:pPr marL="1314450" lvl="1" indent="-571500">
                <a:buFont typeface="Wingdings" panose="05000000000000000000" pitchFamily="2" charset="2"/>
                <a:buChar char="q"/>
              </a:pP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Immediate response related to data without long waiting.</a:t>
              </a:r>
              <a:endParaRPr lang="en-US" sz="3600" dirty="0"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Backend Processing:</a:t>
              </a:r>
            </a:p>
            <a:p>
              <a:pPr marL="1314450" lvl="1" indent="-571500" eaLnBrk="1" hangingPunct="1">
                <a:buFont typeface="Wingdings" panose="05000000000000000000" pitchFamily="2" charset="2"/>
                <a:buChar char="q"/>
              </a:pPr>
              <a:r>
                <a:rPr lang="en-US" sz="3600" b="1" dirty="0">
                  <a:latin typeface="Calibri" pitchFamily="34" charset="0"/>
                </a:rPr>
                <a:t>RAG Technology:</a:t>
              </a:r>
              <a:r>
                <a:rPr lang="en-US" sz="3600" dirty="0">
                  <a:latin typeface="Calibri" pitchFamily="34" charset="0"/>
                </a:rPr>
                <a:t> Enables retrieval and generation of relevant data in real-time</a:t>
              </a:r>
            </a:p>
            <a:p>
              <a:pPr marL="1314450" lvl="1" indent="-571500" eaLnBrk="1" hangingPunct="1">
                <a:buFont typeface="Wingdings" panose="05000000000000000000" pitchFamily="2" charset="2"/>
                <a:buChar char="q"/>
              </a:pPr>
              <a:r>
                <a:rPr lang="en-US" sz="3600" b="1" dirty="0">
                  <a:latin typeface="Calibri" pitchFamily="34" charset="0"/>
                </a:rPr>
                <a:t>Toolbox Components: </a:t>
              </a:r>
            </a:p>
            <a:p>
              <a:pPr marL="1885950" lvl="2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Retriever: </a:t>
              </a:r>
              <a:r>
                <a:rPr lang="en-US" sz="3600" dirty="0">
                  <a:latin typeface="Calibri" pitchFamily="34" charset="0"/>
                </a:rPr>
                <a:t>Fetches specific data points from vast datasets. </a:t>
              </a:r>
            </a:p>
            <a:p>
              <a:pPr marL="1885950" lvl="2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Math Tool: </a:t>
              </a:r>
              <a:r>
                <a:rPr lang="en-US" sz="3600" dirty="0">
                  <a:latin typeface="Calibri" pitchFamily="34" charset="0"/>
                </a:rPr>
                <a:t>Performs statistical analyses instantly. </a:t>
              </a:r>
            </a:p>
            <a:p>
              <a:pPr marL="1885950" lvl="2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Code Interpreter</a:t>
              </a:r>
              <a:r>
                <a:rPr lang="en-US" sz="3600" dirty="0">
                  <a:latin typeface="Calibri" pitchFamily="34" charset="0"/>
                </a:rPr>
                <a:t>: Allows for advanced data manipulation when needed.</a:t>
              </a:r>
            </a:p>
            <a:p>
              <a:pPr marL="1885950" lvl="2" indent="-742950" eaLnBrk="1" hangingPunct="1">
                <a:buFont typeface="+mj-lt"/>
                <a:buAutoNum type="arabicPeriod"/>
              </a:pPr>
              <a:endParaRPr lang="en-US" sz="3600" dirty="0">
                <a:latin typeface="Calibri" pitchFamily="34" charset="0"/>
              </a:endParaRPr>
            </a:p>
            <a:p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Workflow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</a:t>
              </a:r>
            </a:p>
            <a:p>
              <a:pPr lvl="1" indent="0"/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1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User inputs query (e.g., “Summarize adverse events for subject X"). </a:t>
              </a:r>
            </a:p>
            <a:p>
              <a:pPr lvl="1" indent="0"/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2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Agent analyzes the input and selects appropriate tool to execute.</a:t>
              </a:r>
            </a:p>
            <a:p>
              <a:pPr lvl="1" indent="0"/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3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System processes results from tool, performing necessary analyses. </a:t>
              </a: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Summarize and returns a concise, accurate response in real-time.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922240" y="5600700"/>
              <a:ext cx="15361920" cy="800100"/>
            </a:xfrm>
            <a:prstGeom prst="rect">
              <a:avLst/>
            </a:prstGeom>
            <a:solidFill>
              <a:schemeClr val="accent3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991" tIns="39996" rIns="79991" bIns="39996" rtlCol="0" anchor="ctr"/>
            <a:lstStyle/>
            <a:p>
              <a:pPr algn="ctr"/>
              <a:r>
                <a:rPr lang="en-US" sz="1100" dirty="0"/>
                <a:t> </a:t>
              </a:r>
              <a:r>
                <a:rPr lang="en-US" sz="5400" b="1" dirty="0">
                  <a:solidFill>
                    <a:schemeClr val="bg1"/>
                  </a:solidFill>
                </a:rPr>
                <a:t>Methodology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26DAD9-239C-B945-F1A1-180CD6C858FD}"/>
              </a:ext>
            </a:extLst>
          </p:cNvPr>
          <p:cNvGrpSpPr/>
          <p:nvPr/>
        </p:nvGrpSpPr>
        <p:grpSpPr>
          <a:xfrm>
            <a:off x="34216814" y="23816828"/>
            <a:ext cx="15361920" cy="6663172"/>
            <a:chOff x="34137600" y="24003000"/>
            <a:chExt cx="15361920" cy="6663172"/>
          </a:xfrm>
        </p:grpSpPr>
        <p:sp>
          <p:nvSpPr>
            <p:cNvPr id="14" name="Text Box 193"/>
            <p:cNvSpPr txBox="1">
              <a:spLocks noChangeArrowheads="1"/>
            </p:cNvSpPr>
            <p:nvPr/>
          </p:nvSpPr>
          <p:spPr bwMode="auto">
            <a:xfrm>
              <a:off x="34137600" y="24803101"/>
              <a:ext cx="15361920" cy="58630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59984" tIns="159984" rIns="159984" bIns="159984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Real-Time Response: </a:t>
              </a:r>
              <a:r>
                <a:rPr lang="en-US" sz="3600" dirty="0">
                  <a:latin typeface="Calibri" pitchFamily="34" charset="0"/>
                </a:rPr>
                <a:t>Eliminates delays caused by cross-department tasks, improve efficiency by at least 10 times faster.</a:t>
              </a:r>
              <a:endParaRPr lang="en-US" sz="3600" b="1" dirty="0">
                <a:latin typeface="Calibri" pitchFamily="34" charset="0"/>
              </a:endParaRP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Natural Interaction: </a:t>
              </a:r>
              <a:r>
                <a:rPr lang="en-US" sz="3600" dirty="0">
                  <a:latin typeface="Calibri" pitchFamily="34" charset="0"/>
                </a:rPr>
                <a:t>Users ask questions in plain language without technical barriers. </a:t>
              </a:r>
              <a:endParaRPr lang="en-US" sz="3600" b="1" dirty="0">
                <a:latin typeface="Calibri" pitchFamily="34" charset="0"/>
              </a:endParaRP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Reduced Human Cost: </a:t>
              </a:r>
              <a:r>
                <a:rPr lang="en-US" sz="3600" dirty="0">
                  <a:latin typeface="Calibri" pitchFamily="34" charset="0"/>
                </a:rPr>
                <a:t>Minimizes the need for programmers and statisticians for various queries.</a:t>
              </a:r>
              <a:endParaRPr lang="en-US" sz="3600" b="1" dirty="0">
                <a:latin typeface="Calibri" pitchFamily="34" charset="0"/>
              </a:endParaRP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Error Reduction: </a:t>
              </a:r>
              <a:r>
                <a:rPr lang="en-US" sz="3600" dirty="0">
                  <a:latin typeface="Calibri" pitchFamily="34" charset="0"/>
                </a:rPr>
                <a:t>Automated processes lower the risk of human mistakes.</a:t>
              </a:r>
              <a:endParaRPr lang="en-US" sz="3600" b="1" dirty="0">
                <a:latin typeface="Calibri" pitchFamily="34" charset="0"/>
              </a:endParaRP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Scalability: </a:t>
              </a:r>
              <a:r>
                <a:rPr lang="en-US" sz="3600" dirty="0">
                  <a:latin typeface="Calibri" pitchFamily="34" charset="0"/>
                </a:rPr>
                <a:t>Capable of processing vast amounts of data efficiently.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Flexibility: </a:t>
              </a:r>
              <a:r>
                <a:rPr lang="en-US" sz="3600" dirty="0">
                  <a:latin typeface="Calibri" pitchFamily="34" charset="0"/>
                </a:rPr>
                <a:t>tools are extensible and can be customized for different applications. Framework can be easily converted for different requirements.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4137600" y="24003000"/>
              <a:ext cx="15361920" cy="800100"/>
            </a:xfrm>
            <a:prstGeom prst="rect">
              <a:avLst/>
            </a:prstGeom>
            <a:solidFill>
              <a:schemeClr val="accent3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991" tIns="39996" rIns="79991" bIns="39996" rtlCol="0" anchor="ctr"/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</a:rPr>
                <a:t>Advantages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106BD1-BF93-674E-18C5-B9C10B16F2C3}"/>
              </a:ext>
            </a:extLst>
          </p:cNvPr>
          <p:cNvGrpSpPr/>
          <p:nvPr/>
        </p:nvGrpSpPr>
        <p:grpSpPr>
          <a:xfrm>
            <a:off x="1681478" y="13636976"/>
            <a:ext cx="15361920" cy="4447183"/>
            <a:chOff x="1706880" y="14490700"/>
            <a:chExt cx="15361920" cy="4447183"/>
          </a:xfrm>
        </p:grpSpPr>
        <p:sp>
          <p:nvSpPr>
            <p:cNvPr id="33" name="Rectangle 32"/>
            <p:cNvSpPr/>
            <p:nvPr/>
          </p:nvSpPr>
          <p:spPr>
            <a:xfrm>
              <a:off x="1706880" y="14490700"/>
              <a:ext cx="15361920" cy="800100"/>
            </a:xfrm>
            <a:prstGeom prst="rect">
              <a:avLst/>
            </a:prstGeom>
            <a:solidFill>
              <a:schemeClr val="accent3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991" tIns="39996" rIns="79991" bIns="39996" rtlCol="0" anchor="ctr"/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</a:rPr>
                <a:t>Objectives</a:t>
              </a:r>
            </a:p>
          </p:txBody>
        </p:sp>
        <p:sp>
          <p:nvSpPr>
            <p:cNvPr id="11" name="Text Box 190"/>
            <p:cNvSpPr txBox="1">
              <a:spLocks noChangeArrowheads="1"/>
            </p:cNvSpPr>
            <p:nvPr/>
          </p:nvSpPr>
          <p:spPr bwMode="auto">
            <a:xfrm>
              <a:off x="1706880" y="15290803"/>
              <a:ext cx="15361920" cy="36470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59984" tIns="159984" rIns="159984" bIns="159984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Provide DMCs with real-time response to questions towards clinical data.</a:t>
              </a:r>
            </a:p>
            <a:p>
              <a:pPr eaLnBrk="1" hangingPunct="1"/>
              <a:endPara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Reduce the workload and time required to review extensive clinical documents.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Enhance accuracy and reduce human error in data querying and analysis.</a:t>
              </a:r>
              <a:endParaRPr lang="en-US" sz="3600" b="1" dirty="0">
                <a:latin typeface="+mn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B68D35-6425-A713-5FF4-0C533445E31E}"/>
              </a:ext>
            </a:extLst>
          </p:cNvPr>
          <p:cNvGrpSpPr/>
          <p:nvPr/>
        </p:nvGrpSpPr>
        <p:grpSpPr>
          <a:xfrm>
            <a:off x="17590061" y="19202400"/>
            <a:ext cx="16635877" cy="11663354"/>
            <a:chOff x="17922240" y="4906200"/>
            <a:chExt cx="15361920" cy="988674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7EC1409-9316-3BB7-9841-D2D985791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2240" y="4906200"/>
              <a:ext cx="15361920" cy="8863540"/>
            </a:xfrm>
            <a:prstGeom prst="rect">
              <a:avLst/>
            </a:prstGeom>
          </p:spPr>
        </p:pic>
        <p:sp>
          <p:nvSpPr>
            <p:cNvPr id="18" name="Text Box 180"/>
            <p:cNvSpPr txBox="1">
              <a:spLocks noChangeArrowheads="1"/>
            </p:cNvSpPr>
            <p:nvPr/>
          </p:nvSpPr>
          <p:spPr bwMode="auto">
            <a:xfrm>
              <a:off x="22964971" y="14465946"/>
              <a:ext cx="3718095" cy="326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9991" tIns="39996" rIns="79991" bIns="39996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 b="1" dirty="0">
                  <a:latin typeface="Calibri" pitchFamily="34" charset="0"/>
                </a:rPr>
                <a:t>Figure 2.</a:t>
              </a:r>
              <a:r>
                <a:rPr lang="en-US" sz="1600" dirty="0">
                  <a:latin typeface="Calibri" pitchFamily="34" charset="0"/>
                </a:rPr>
                <a:t> Structure design of DARIA system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DD72EB-31DD-1E13-6A65-52339EF3CBB9}"/>
              </a:ext>
            </a:extLst>
          </p:cNvPr>
          <p:cNvGrpSpPr/>
          <p:nvPr/>
        </p:nvGrpSpPr>
        <p:grpSpPr>
          <a:xfrm>
            <a:off x="34216814" y="17879419"/>
            <a:ext cx="15361920" cy="5001178"/>
            <a:chOff x="34137600" y="24003000"/>
            <a:chExt cx="15361920" cy="5001178"/>
          </a:xfrm>
        </p:grpSpPr>
        <p:sp>
          <p:nvSpPr>
            <p:cNvPr id="54" name="Text Box 193">
              <a:extLst>
                <a:ext uri="{FF2B5EF4-FFF2-40B4-BE49-F238E27FC236}">
                  <a16:creationId xmlns:a16="http://schemas.microsoft.com/office/drawing/2014/main" id="{5B630D7A-F037-CF0A-65FF-3692FAC3F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37600" y="24803101"/>
              <a:ext cx="15361920" cy="42010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59984" tIns="159984" rIns="159984" bIns="159984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Support for multiple filetype upload with unlimited file size limitation.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Continuous Chatting with Session History.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Professional Narrative Writing and Interactive Graph Generation.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Client Privacy and System Localization.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Adaptive Performance Enhancement with LLM Integration.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Customizable Tools on Demand.</a:t>
              </a:r>
            </a:p>
            <a:p>
              <a:pPr marL="742950" indent="-742950" eaLnBrk="1" hangingPunct="1">
                <a:buFont typeface="+mj-lt"/>
                <a:buAutoNum type="arabicPeriod"/>
              </a:pPr>
              <a:r>
                <a:rPr lang="en-US" sz="3600" b="1" dirty="0">
                  <a:latin typeface="Calibri" pitchFamily="34" charset="0"/>
                </a:rPr>
                <a:t>System is designed to be compliant with good clinical practice standards.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5812B04-283A-D219-5CAF-DEEB0622206A}"/>
                </a:ext>
              </a:extLst>
            </p:cNvPr>
            <p:cNvSpPr/>
            <p:nvPr/>
          </p:nvSpPr>
          <p:spPr>
            <a:xfrm>
              <a:off x="34137600" y="24003000"/>
              <a:ext cx="15361920" cy="800100"/>
            </a:xfrm>
            <a:prstGeom prst="rect">
              <a:avLst/>
            </a:prstGeom>
            <a:solidFill>
              <a:schemeClr val="accent3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991" tIns="39996" rIns="79991" bIns="39996" rtlCol="0" anchor="ctr"/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</a:rPr>
                <a:t>Features</a:t>
              </a:r>
            </a:p>
          </p:txBody>
        </p:sp>
      </p:grpSp>
      <p:pic>
        <p:nvPicPr>
          <p:cNvPr id="3" name="Picture 2" descr="A grey and black logo&#10;&#10;Description automatically generated">
            <a:extLst>
              <a:ext uri="{FF2B5EF4-FFF2-40B4-BE49-F238E27FC236}">
                <a16:creationId xmlns:a16="http://schemas.microsoft.com/office/drawing/2014/main" id="{8077FD41-67E0-E11A-6378-621428771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5924" y="486371"/>
            <a:ext cx="8152326" cy="237323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C0A1D21-3A70-096A-848B-1D2223B55D00}"/>
              </a:ext>
            </a:extLst>
          </p:cNvPr>
          <p:cNvSpPr txBox="1"/>
          <p:nvPr/>
        </p:nvSpPr>
        <p:spPr>
          <a:xfrm>
            <a:off x="24003000" y="16033754"/>
            <a:ext cx="52954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1600" b="1" dirty="0">
                <a:latin typeface="Calibri" pitchFamily="34" charset="0"/>
              </a:rPr>
              <a:t>Figure 1.</a:t>
            </a:r>
            <a:r>
              <a:rPr lang="en-US" sz="1600" dirty="0">
                <a:latin typeface="Calibri" pitchFamily="34" charset="0"/>
              </a:rPr>
              <a:t> Interface of DARIA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CBD0D-0D8F-012E-FCCE-0700B2A6E424}"/>
              </a:ext>
            </a:extLst>
          </p:cNvPr>
          <p:cNvSpPr txBox="1"/>
          <p:nvPr/>
        </p:nvSpPr>
        <p:spPr>
          <a:xfrm>
            <a:off x="1991360" y="34364885"/>
            <a:ext cx="9133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Name: </a:t>
            </a:r>
            <a:r>
              <a:rPr lang="en-US" sz="4800" dirty="0" err="1">
                <a:solidFill>
                  <a:schemeClr val="bg1"/>
                </a:solidFill>
              </a:rPr>
              <a:t>Lizhong</a:t>
            </a:r>
            <a:r>
              <a:rPr lang="en-US" sz="4800" dirty="0">
                <a:solidFill>
                  <a:schemeClr val="bg1"/>
                </a:solidFill>
              </a:rPr>
              <a:t> Liu</a:t>
            </a:r>
          </a:p>
          <a:p>
            <a:r>
              <a:rPr lang="en-US" sz="4800" dirty="0">
                <a:solidFill>
                  <a:schemeClr val="bg1"/>
                </a:solidFill>
              </a:rPr>
              <a:t>Email: </a:t>
            </a:r>
            <a:r>
              <a:rPr lang="en-US" sz="4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lliu@cims-global.com</a:t>
            </a:r>
            <a:endParaRPr lang="en-US" sz="4800" dirty="0">
              <a:solidFill>
                <a:schemeClr val="bg1"/>
              </a:solidFill>
            </a:endParaRPr>
          </a:p>
          <a:p>
            <a:r>
              <a:rPr lang="en-US" sz="4800" dirty="0">
                <a:solidFill>
                  <a:schemeClr val="bg1"/>
                </a:solidFill>
              </a:rPr>
              <a:t>Phone: 305-487-0284</a:t>
            </a:r>
          </a:p>
          <a:p>
            <a:r>
              <a:rPr lang="en-US" sz="4800" dirty="0">
                <a:solidFill>
                  <a:schemeClr val="bg1"/>
                </a:solidFill>
              </a:rPr>
              <a:t>Website: https://cims-global.com/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303A1-3FA5-B247-2B2A-2B102E408BE8}"/>
              </a:ext>
            </a:extLst>
          </p:cNvPr>
          <p:cNvCxnSpPr>
            <a:cxnSpLocks/>
          </p:cNvCxnSpPr>
          <p:nvPr/>
        </p:nvCxnSpPr>
        <p:spPr>
          <a:xfrm>
            <a:off x="41376600" y="3200400"/>
            <a:ext cx="7924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6DE311-5E1B-190F-AB7C-EF3216D7F431}"/>
              </a:ext>
            </a:extLst>
          </p:cNvPr>
          <p:cNvSpPr txBox="1"/>
          <p:nvPr/>
        </p:nvSpPr>
        <p:spPr>
          <a:xfrm>
            <a:off x="41452800" y="3351140"/>
            <a:ext cx="9377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" panose="00000500000000000000" pitchFamily="2" charset="0"/>
              </a:rPr>
              <a:t>Reshaping the future of clinical trials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57BBA946-C67B-8999-0F24-11E7C7970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1206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5B1E4361-ED1F-5253-7A74-B87EEE750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1206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1BA50CB3-CA7C-DF2D-B794-D5FDB8B09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51206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2DCCE4-A38C-E48D-4EAD-F9598A539D2F}"/>
              </a:ext>
            </a:extLst>
          </p:cNvPr>
          <p:cNvGrpSpPr/>
          <p:nvPr/>
        </p:nvGrpSpPr>
        <p:grpSpPr>
          <a:xfrm>
            <a:off x="1694180" y="18727860"/>
            <a:ext cx="15361920" cy="13865142"/>
            <a:chOff x="17922240" y="14490700"/>
            <a:chExt cx="15361920" cy="13865142"/>
          </a:xfrm>
        </p:grpSpPr>
        <p:sp>
          <p:nvSpPr>
            <p:cNvPr id="7" name="Text Box 194">
              <a:extLst>
                <a:ext uri="{FF2B5EF4-FFF2-40B4-BE49-F238E27FC236}">
                  <a16:creationId xmlns:a16="http://schemas.microsoft.com/office/drawing/2014/main" id="{0493A3CA-E464-6ADB-397C-D2808CDED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2240" y="15290800"/>
              <a:ext cx="15361920" cy="130650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59984" tIns="159984" rIns="159984" bIns="159984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Data Volume</a:t>
              </a:r>
              <a:r>
                <a:rPr lang="en-US" sz="3600" dirty="0">
                  <a:latin typeface="Calibri" pitchFamily="34" charset="0"/>
                </a:rPr>
                <a:t>: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Too Much Data to Review:</a:t>
              </a:r>
              <a:r>
                <a:rPr lang="en-US" sz="3600" dirty="0">
                  <a:latin typeface="Calibri" pitchFamily="34" charset="0"/>
                </a:rPr>
                <a:t> DMCs face thousands of pages of TFLs and SAE reports, making timely review challenging. </a:t>
              </a:r>
            </a:p>
            <a:p>
              <a:pPr eaLnBrk="1" hangingPunct="1"/>
              <a:endParaRPr lang="en-US" sz="36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Process Inefficiencies: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Delayed Response: </a:t>
              </a:r>
              <a:r>
                <a:rPr lang="en-US" sz="3600" dirty="0">
                  <a:latin typeface="Calibri" pitchFamily="34" charset="0"/>
                </a:rPr>
                <a:t>Inquiries require assigning tasks to programmers and statisticians, leading to delays.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Organizational silos: </a:t>
              </a:r>
              <a:r>
                <a:rPr lang="en-US" sz="3600" dirty="0">
                  <a:latin typeface="Calibri" pitchFamily="34" charset="0"/>
                </a:rPr>
                <a:t>Coordination between departments takes days to weeks.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Technical Challenges: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Offline Data Processing</a:t>
              </a:r>
              <a:r>
                <a:rPr lang="en-US" sz="3600" dirty="0">
                  <a:latin typeface="Calibri" pitchFamily="34" charset="0"/>
                </a:rPr>
                <a:t>: Implementing systems capable of handling and analyzing large datasets instantly.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Human Resources: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High Human Cost: </a:t>
              </a:r>
              <a:r>
                <a:rPr lang="en-US" sz="3600" dirty="0">
                  <a:latin typeface="Calibri" pitchFamily="34" charset="0"/>
                </a:rPr>
                <a:t>Significant personnel required for data querying and analysis.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Risk of Human Error: </a:t>
              </a:r>
              <a:r>
                <a:rPr lang="en-US" sz="3600" dirty="0">
                  <a:latin typeface="Calibri" pitchFamily="34" charset="0"/>
                </a:rPr>
                <a:t>Manual processes increase the likelihood of mistakes.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LLM: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altLang="zh-CN" sz="3600" b="1" dirty="0">
                  <a:latin typeface="Calibri" pitchFamily="34" charset="0"/>
                </a:rPr>
                <a:t>H</a:t>
              </a:r>
              <a:r>
                <a:rPr lang="en-US" sz="3600" b="1" dirty="0">
                  <a:latin typeface="Calibri" pitchFamily="34" charset="0"/>
                </a:rPr>
                <a:t>allucination: </a:t>
              </a:r>
              <a:r>
                <a:rPr lang="en-US" sz="3600" dirty="0">
                  <a:latin typeface="Calibri" pitchFamily="34" charset="0"/>
                </a:rPr>
                <a:t>Model’s response are not reliable all times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Knowledge Out-of-date: </a:t>
              </a:r>
              <a:r>
                <a:rPr lang="en-US" sz="3600" dirty="0">
                  <a:latin typeface="Calibri" pitchFamily="34" charset="0"/>
                </a:rPr>
                <a:t>Model’s knowledge is based on training data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No external knowledge: </a:t>
              </a:r>
              <a:r>
                <a:rPr lang="en-US" sz="3600" dirty="0">
                  <a:latin typeface="Calibri" pitchFamily="34" charset="0"/>
                </a:rPr>
                <a:t>Model have no access to external or domain knowledges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9A094D-AC2B-E587-ACFE-D8593905C6AA}"/>
                </a:ext>
              </a:extLst>
            </p:cNvPr>
            <p:cNvSpPr/>
            <p:nvPr/>
          </p:nvSpPr>
          <p:spPr>
            <a:xfrm>
              <a:off x="17922240" y="14490700"/>
              <a:ext cx="15361920" cy="800100"/>
            </a:xfrm>
            <a:prstGeom prst="rect">
              <a:avLst/>
            </a:prstGeom>
            <a:solidFill>
              <a:schemeClr val="accent3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991" tIns="39996" rIns="79991" bIns="39996" rtlCol="0" anchor="ctr"/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</a:rPr>
                <a:t>Obstacles/Challenges</a:t>
              </a:r>
            </a:p>
          </p:txBody>
        </p:sp>
      </p:grp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410DCB9-4A0D-A032-B809-1EB7B74B19E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2" t="24132" r="17392" b="24435"/>
          <a:stretch/>
        </p:blipFill>
        <p:spPr>
          <a:xfrm>
            <a:off x="17068800" y="6045363"/>
            <a:ext cx="16775500" cy="998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7461</TotalTime>
  <Words>642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Montserrat</vt:lpstr>
      <vt:lpstr>Wingdings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36x48</dc:title>
  <dc:creator>Jay Larson</dc:creator>
  <dc:description>Quality poster printing
www.genigraphics.com
1-800-790-4001</dc:description>
  <cp:lastModifiedBy>Peng Zhang</cp:lastModifiedBy>
  <cp:revision>95</cp:revision>
  <cp:lastPrinted>2013-02-12T02:21:55Z</cp:lastPrinted>
  <dcterms:created xsi:type="dcterms:W3CDTF">2013-02-10T21:14:48Z</dcterms:created>
  <dcterms:modified xsi:type="dcterms:W3CDTF">2024-10-09T14:52:54Z</dcterms:modified>
</cp:coreProperties>
</file>